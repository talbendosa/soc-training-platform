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1200" b="0">
                <a:solidFill>
                  <a:srgbClr val="00FF9D"/>
                </a:solidFill>
                <a:latin typeface="Segoe UI"/>
              </a:rPr>
              <a:t>● </a:t>
            </a:r>
            <a:r>
              <a:rPr sz="1300" b="1">
                <a:solidFill>
                  <a:srgbClr val="22D3EE"/>
                </a:solidFill>
                <a:latin typeface="Consolas"/>
              </a:rPr>
              <a:t>LIVE SOC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400"/>
              </a:spcAft>
            </a:pPr>
            <a:r>
              <a:rPr sz="7200" b="1">
                <a:solidFill>
                  <a:srgbClr val="FFFFFF"/>
                </a:solidFill>
                <a:latin typeface="Consolas"/>
              </a:rPr>
              <a:t>HACK </a:t>
            </a:r>
            <a:r>
              <a:rPr sz="7200" b="1">
                <a:solidFill>
                  <a:srgbClr val="22D3EE"/>
                </a:solidFill>
                <a:latin typeface="Consolas"/>
              </a:rPr>
              <a:t>THE </a:t>
            </a:r>
            <a:r>
              <a:rPr sz="7200" b="1">
                <a:solidFill>
                  <a:srgbClr val="FFFFFF"/>
                </a:solidFill>
                <a:latin typeface="Consolas"/>
              </a:rPr>
              <a:t>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1">
              <a:spcAft>
                <a:spcPts val="600"/>
              </a:spcAft>
            </a:pPr>
            <a:r>
              <a:rPr sz="2600" b="1">
                <a:solidFill>
                  <a:srgbClr val="CBD5E1"/>
                </a:solidFill>
                <a:latin typeface="Segoe UI"/>
              </a:rPr>
              <a:t>פלטפורמת אימון והכשרה לאנליסטים ב-SOC — סימולציה חיה, לא עוד קורס תיאורטי</a:t>
            </a:r>
          </a:p>
          <a:p>
            <a:pPr algn="l" rtl="1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מכללות סייבר · צוותי הגנה · אנליסטים בהכשרה מ-0 ועד חקירת אירוע אמיתי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4892040"/>
            <a:ext cx="2926080" cy="0"/>
          </a:xfrm>
          <a:prstGeom prst="bentConnector3">
            <a:avLst/>
          </a:prstGeom>
          <a:ln w="3810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מצגת מוצר · </a:t>
            </a:r>
            <a:r>
              <a:rPr sz="1200" b="0">
                <a:solidFill>
                  <a:srgbClr val="22D3EE"/>
                </a:solidFill>
                <a:latin typeface="Consolas"/>
              </a:rPr>
              <a:t>hackthesoc.app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6400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הבעיה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רוב ההכשרות מלמדות לזהות התראה מתויגת. SOC אמיתי לא עובד ככה.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38728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23944" y="2514600"/>
            <a:ext cx="54864" cy="310896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התראה עם תשובה מראש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29900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בקורס רגיל האירוע כבר מסומן 'זדוני'. בעבודה אף אחד לא אומר לך איזו התראה חשובה — צריך למצוא אותה בעצמך.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514600"/>
            <a:ext cx="3538728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27264" y="2514600"/>
            <a:ext cx="54864" cy="310896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צילומי מסך, לא לוגים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03320"/>
            <a:ext cx="29900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מלמדים על לוגים דרך סלайдים. אנליסט אמיתי קורא שדות גולמיים של ספק — לא סיכום מסודר שלהם.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538728" cy="31089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30584" y="2514600"/>
            <a:ext cx="54864" cy="310896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78892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אין שיפוט אמיתי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03320"/>
            <a:ext cx="29900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שאלה אמריקאית לא בודקת אם אתה יודע לחקור, להחליט תחת אי-ודאות, ולכתוב דוח שמנהל יכול לפעול לפיו.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מה זה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9601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SOC שלם — והשיקול-דעת לעבוד בתוכו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4884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30000"/>
              </a:lnSpc>
              <a:spcAft>
                <a:spcPts val="1200"/>
              </a:spcAft>
            </a:pPr>
            <a:r>
              <a:rPr sz="1600" b="0">
                <a:solidFill>
                  <a:srgbClr val="CBD5E1"/>
                </a:solidFill>
                <a:latin typeface="Segoe UI"/>
              </a:rPr>
              <a:t>HACK THE SOC נותנת לתלמיד את כל הפיד: טלמטריה אמיתית שזורמת בזמן אמת ממספר חברות, רובה שגרה — ובתוכה חדירה אחת אמיתית שמתקדמת. בלי הדגשות, בלי מיון מראש.</a:t>
            </a:r>
          </a:p>
          <a:p>
            <a:pPr algn="r" rtl="1">
              <a:lnSpc>
                <a:spcPct val="120000"/>
              </a:lnSpc>
              <a:spcAft>
                <a:spcPts val="800"/>
              </a:spcAft>
            </a:pPr>
            <a:r>
              <a:rPr sz="1500" b="0">
                <a:solidFill>
                  <a:srgbClr val="22D3EE"/>
                </a:solidFill>
                <a:latin typeface="Segoe UI"/>
              </a:rPr>
              <a:t>◂  </a:t>
            </a:r>
            <a:r>
              <a:rPr sz="1500" b="0">
                <a:solidFill>
                  <a:srgbClr val="CBD5E1"/>
                </a:solidFill>
                <a:latin typeface="Segoe UI"/>
              </a:rPr>
              <a:t>פיד SOC חי עם טלמטריה מ-14+ ספקי אבטחה אמיתיים</a:t>
            </a:r>
          </a:p>
          <a:p>
            <a:pPr algn="r" rtl="1">
              <a:lnSpc>
                <a:spcPct val="120000"/>
              </a:lnSpc>
              <a:spcAft>
                <a:spcPts val="800"/>
              </a:spcAft>
            </a:pPr>
            <a:r>
              <a:rPr sz="1500" b="0">
                <a:solidFill>
                  <a:srgbClr val="22D3EE"/>
                </a:solidFill>
                <a:latin typeface="Segoe UI"/>
              </a:rPr>
              <a:t>◂  </a:t>
            </a:r>
            <a:r>
              <a:rPr sz="1500" b="0">
                <a:solidFill>
                  <a:srgbClr val="CBD5E1"/>
                </a:solidFill>
                <a:latin typeface="Segoe UI"/>
              </a:rPr>
              <a:t>חקירה עצמאית: תיוג IOC, pivoting בין מארח↔משתמש↔סשן</a:t>
            </a:r>
          </a:p>
          <a:p>
            <a:pPr algn="r" rtl="1">
              <a:lnSpc>
                <a:spcPct val="120000"/>
              </a:lnSpc>
              <a:spcAft>
                <a:spcPts val="800"/>
              </a:spcAft>
            </a:pPr>
            <a:r>
              <a:rPr sz="1500" b="0">
                <a:solidFill>
                  <a:srgbClr val="22D3EE"/>
                </a:solidFill>
                <a:latin typeface="Segoe UI"/>
              </a:rPr>
              <a:t>◂  </a:t>
            </a:r>
            <a:r>
              <a:rPr sz="1500" b="0">
                <a:solidFill>
                  <a:srgbClr val="CBD5E1"/>
                </a:solidFill>
                <a:latin typeface="Segoe UI"/>
              </a:rPr>
              <a:t>כתיבת דוח אירוע שנבדק מול מה שבאמת קרה</a:t>
            </a:r>
          </a:p>
          <a:p>
            <a:pPr algn="r" rtl="1">
              <a:lnSpc>
                <a:spcPct val="120000"/>
              </a:lnSpc>
              <a:spcAft>
                <a:spcPts val="800"/>
              </a:spcAft>
            </a:pPr>
            <a:r>
              <a:rPr sz="1500" b="0">
                <a:solidFill>
                  <a:srgbClr val="22D3EE"/>
                </a:solidFill>
                <a:latin typeface="Segoe UI"/>
              </a:rPr>
              <a:t>◂  </a:t>
            </a:r>
            <a:r>
              <a:rPr sz="1500" b="0">
                <a:solidFill>
                  <a:srgbClr val="CBD5E1"/>
                </a:solidFill>
                <a:latin typeface="Segoe UI"/>
              </a:rPr>
              <a:t>מיפוי MITRE ATT&amp;CK לאורך כל הדרך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1080" y="1362600"/>
            <a:ext cx="5047200" cy="31612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6400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איך רצה משמרת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אף אחד לא אומר לך איזו התראה חשובה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697480" cy="3291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4000" b="1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הפיד נפתח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התראות מגיעות בזמן אמת מכל ה-tenants. אין תור-triage ואין מיון-חומרה מוכן מראש.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3749039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ctr" rtl="0">
              <a:spcAft>
                <a:spcPts val="0"/>
              </a:spcAft>
            </a:pPr>
            <a:r>
              <a:rPr sz="2400" b="0">
                <a:solidFill>
                  <a:srgbClr val="334155"/>
                </a:solidFill>
                <a:latin typeface="Segoe UI"/>
              </a:rPr>
              <a:t>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377440"/>
            <a:ext cx="2697480" cy="3291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6060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4000" b="1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5204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אתה חוקר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411480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פותח אירועים, קורא שדות גולמיים, עושה pivot בין מארחים לזהויות, ומתייג ראיות.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3749039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ctr" rtl="0">
              <a:spcAft>
                <a:spcPts val="0"/>
              </a:spcAft>
            </a:pPr>
            <a:r>
              <a:rPr sz="2400" b="0">
                <a:solidFill>
                  <a:srgbClr val="334155"/>
                </a:solidFill>
                <a:latin typeface="Segoe UI"/>
              </a:rPr>
              <a:t>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377440"/>
            <a:ext cx="2697480" cy="3291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26060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4000" b="1">
                <a:solidFill>
                  <a:srgbClr val="22D3EE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5204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אתה מכריע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411480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True Positive, False Positive, או הסלמה — ואז כותב את הדוח שמצדיק את ההחלטה.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3749039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ctr" rtl="0">
              <a:spcAft>
                <a:spcPts val="0"/>
              </a:spcAft>
            </a:pPr>
            <a:r>
              <a:rPr sz="2400" b="0">
                <a:solidFill>
                  <a:srgbClr val="334155"/>
                </a:solidFill>
                <a:latin typeface="Segoe UI"/>
              </a:rPr>
              <a:t>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2377440"/>
            <a:ext cx="2697480" cy="3291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6" y="26060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4000" b="1">
                <a:solidFill>
                  <a:srgbClr val="22D3EE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35204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אתה נבדק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0616" y="411480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ציון מול האמת: מה הייתה התקיפה, אילו אינדיקטורים היו אמיתיים, ומה פספסת.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6400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הלב של המערכת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960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Live SOC — פיד התראות חי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286000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טלמטריה זורמת בזמן אמת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אירועים נכנסים חיים בין רעש-רקע שגרתי. שום דבר לא מסומן — למצוא את החדירה זה התרגיל.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סינון כמו SIEM אמיתי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לפי חומרה (1–10), מקור (EDR / O365 / Firewall / Cloud), וחלון-זמן — בדיוק כמו קונסולה אמיתית.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מדריך חקירה מובנה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Source → Actors → Behavior → Pattern → Classify — שיטת עבודה של אנליסט, לא ניחוש.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5623560"/>
            <a:ext cx="4846320" cy="640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570585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B020"/>
                </a:solidFill>
                <a:latin typeface="Segoe UI"/>
              </a:rPr>
              <a:t>★  </a:t>
            </a:r>
            <a:r>
              <a:rPr sz="1250" b="0">
                <a:solidFill>
                  <a:srgbClr val="CBD5E1"/>
                </a:solidFill>
                <a:latin typeface="Segoe UI"/>
              </a:rPr>
              <a:t>66 תרחישי תקיפה במאגר — נבחר אחד חדש בכל משמרת, עם זיכרון אנטי-חזרה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640" y="1545480"/>
            <a:ext cx="5961600" cy="37327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_liv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ריאליזם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חמש חברות, לוגים אמיתיים — לא צילום של לוג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5 סביבות עם stack שונה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פיננסים, בריאות, SaaS, לוגיסטיקה ובנקאות — כל אחת עם EDR, ענן, זהות ו-firewall אמיתיים משלה.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שמות השדות הם האמיתיים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event_simpleName, winlog.event_data, aws.cloudtrail — קוראים את המקור, לא סיכום מיופה שלו.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ביקורת-נאמנות אוטומטית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כל שדה נבדק מול הסכמה האמיתית של אותו ספק — שער איכות שרץ על כל אירוע.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4846320" cy="640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0585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B020"/>
                </a:solidFill>
                <a:latin typeface="Segoe UI"/>
              </a:rPr>
              <a:t>★  </a:t>
            </a:r>
            <a:r>
              <a:rPr sz="1250" b="0">
                <a:solidFill>
                  <a:srgbClr val="CBD5E1"/>
                </a:solidFill>
                <a:latin typeface="Segoe UI"/>
              </a:rPr>
              <a:t>כשהתלמיד יפתח קונסולה אמיתית בעבודה — הוא כבר קרא את הפלט שלה מאות פעמים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360" y="1545480"/>
            <a:ext cx="5961600" cy="37327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6400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הבידול המרכזי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960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אתה כותב את הדוח — וה-AI נותן ציון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286000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דיווח במילים שלך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מה הייתה התקיפה, אילו IOCs מוכיחים אותה, מה התגובה, ומה ההשפעה העסקית — כמו תיק אמיתי.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ציון מול האמת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הדוח נבדק מול מה שבאמת קרה. ציטטת אינדיקטור שלא הופיע בלוגים? תקבל בדיוק על איזה 'המצאת'.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זיהוי המצאות (fabrication)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המנוע מזהה כשהתלמיד ממציא ראיה — מיומנות הליבה שמפרידה אנליסט טוב מנחשן.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5623560"/>
            <a:ext cx="4846320" cy="640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570585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B020"/>
                </a:solidFill>
                <a:latin typeface="Segoe UI"/>
              </a:rPr>
              <a:t>★  </a:t>
            </a:r>
            <a:r>
              <a:rPr sz="1250" b="0">
                <a:solidFill>
                  <a:srgbClr val="CBD5E1"/>
                </a:solidFill>
                <a:latin typeface="Segoe UI"/>
              </a:rPr>
              <a:t>למידה אמיתית נמדדת ביכולת לנמק — לא בהשלמת וידאו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640" y="1545480"/>
            <a:ext cx="5961600" cy="414550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ciden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943600" cy="412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מסלול מובנה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Learning Rooms — מ-0 ועד מומחה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90 חדרי אימון מובנים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כל חדר משלב קריאה, שאלות, ניתוח-לוגים אמיתי ואתגרי-flag — עם XP ונעילה מדורגת.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רצף פדגוגי אמיתי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מתחיל מתחת ליסודות רשת ומסתיים בשרשראות תקיפה מתקדמות. כל דרישת-קדם נפתחת בסדר.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שום דבר לא מונח מראש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אף חדר לא מניח ידע שלא לימדת — בניית מיומנות שכבה על שכבה.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360" y="1545480"/>
            <a:ext cx="5961600" cy="37327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6400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עומק עיוני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960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מ-0 באמת — אנלוגיה, דוגמה, ואז עומק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286000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מגדיר כל מונח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מניח 0 ידע קודם. כל ראשי-תיבות מוסבר, כל מושג פותח באנלוגיה מהחיים (בית, מנעול, גדר).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עמוק לפי הצורך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מ-CIA Triad ועד Kerberoasting, DCSync ו-AiTM — עם דיאגרמות ומיפוי MITRE.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מגוון סוגי משימות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קריאה, שאלות, ניתוח-לוג אמיתי, התאמה (matching) ואתגרי-flag — לא רק סלайдים לקרוא.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640" y="1545480"/>
            <a:ext cx="5961600" cy="37327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om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ספריית תקיפות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66 תרחישי תקיפה — ממופי MITRE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מבוסס איומים אמיתיים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פישינג, כופרה, DCSync, MFA-fatigue, infostealer, ניצול edge-VPN, סחיטה ללא הצפנה ועוד.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שלוש רמות קושי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Foundation → Core → Advanced. מארח בודד ועד kill-chain מלא עם תנועה רוחבית.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קונסולת EDR ייעודית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חקירת נקודת-קצה מלאה: process tree, RTR shell, והחלטת בידוד — בסגנון CrowdStrike Falcon.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4846320" cy="640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70585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B020"/>
                </a:solidFill>
                <a:latin typeface="Segoe UI"/>
              </a:rPr>
              <a:t>★  </a:t>
            </a:r>
            <a:r>
              <a:rPr sz="1250" b="0">
                <a:solidFill>
                  <a:srgbClr val="CBD5E1"/>
                </a:solidFill>
                <a:latin typeface="Segoe UI"/>
              </a:rPr>
              <a:t>תוכן שמתעדכן לפי נוף האיומים העדכני (DBIR / CISA)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360" y="1545480"/>
            <a:ext cx="5961600" cy="37327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6400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הישגים והסמכה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960120"/>
            <a:ext cx="4846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6000"/>
              </a:lnSpc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דרגות קריירה + תעודה לשיתוף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286000"/>
            <a:ext cx="48463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מסלול דרגות אמיתי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SOC Trainee → Tier 1 Triage → Tier 2 Investigation → Tier 3 Hunt — כל דרגה עם סף XP.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תעודה לכל דרגה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כל דרגה שנפתחת מנפיקה תעודה הניתנת לשיתוף — נכס אמיתי לתלמיד.</a:t>
            </a:r>
          </a:p>
          <a:p>
            <a:pPr algn="r" rtl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◂  </a:t>
            </a:r>
            <a:r>
              <a:rPr sz="1600" b="1">
                <a:solidFill>
                  <a:srgbClr val="FFFFFF"/>
                </a:solidFill>
                <a:latin typeface="Segoe UI"/>
              </a:rPr>
              <a:t>מעורבות שמחזירה</a:t>
            </a:r>
          </a:p>
          <a:p>
            <a:pPr algn="r" rtl="1">
              <a:lnSpc>
                <a:spcPct val="122000"/>
              </a:lnSpc>
              <a:spcAft>
                <a:spcPts val="1200"/>
              </a:spcAft>
            </a:pPr>
            <a:r>
              <a:rPr sz="1350" b="0">
                <a:solidFill>
                  <a:srgbClr val="94A3B8"/>
                </a:solidFill>
                <a:latin typeface="Segoe UI"/>
              </a:rPr>
              <a:t>XP, רצף יומי, הישגים ולוח-מובילים כיתתי — מוטיבציה לאורך זמן, לא רק בהתחלה.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640" y="1545480"/>
            <a:ext cx="5961600" cy="37327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hiev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94360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5486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למכללות וצוותים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בנוי למכירה למכללות סייבר — Multi-Tenant מלא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38728" cy="1783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23944" y="196596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ארגון מבודד לכל מכללה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79192"/>
            <a:ext cx="303580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כל מכללה מקבלת סביבה פרטית, מבודדת לחלוטין מכל tenant אחר — נתונים, תלמידים ולוח-מובילים נפרדים.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538728" cy="1783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27264" y="196596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קונסולת מרצה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79192"/>
            <a:ext cx="303580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מטלות עם תאריך-יעד, drill-down פר-תלמיד, וייצוא ציונים ל-CSV — הכל במקום אחד.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538728" cy="1783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30584" y="196596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14884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הרשמה בקוד-כיתה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79192"/>
            <a:ext cx="303580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התלמיד נרשם עם קוד-גישה שהמרצה מחלק. שיוך ל-100 יום, עם חידוש מבוקר.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3538728" cy="1783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23944" y="393192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14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ניהול על (Super-Admin)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303580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הקצאת מושבים, תוקף רישיון, וניהול מכללות — שליטה מרכזית מלאה.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931920"/>
            <a:ext cx="3538728" cy="1783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27264" y="393192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114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ציון ומעקב אוטומטי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645152"/>
            <a:ext cx="303580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כל דוח אירוע, חדר ותרחיש נמדד ונרשם — המרצה רואה התקדמות אמיתית, לא רק 'הושלם'.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931920"/>
            <a:ext cx="3538728" cy="17830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30584" y="3931920"/>
            <a:ext cx="54864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11480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דוא"ל ומחזור-חיים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645152"/>
            <a:ext cx="303580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הזמנות, תזכורות ו-re-engagement לתלמידים נושרים — מובנה במערכת.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40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כיסוי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מהיסוד ועד תקיפות מדינתיות — שישה תחומים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538728" cy="1280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Endpoint &amp; EDR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עצי-תהליך, credential dumping, החלטות בידוד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38728" cy="1280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4884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SIEM &amp;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24328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שפות שאילתה, tuning, correlation, כלכלת FP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538728" cy="1280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Identity &amp;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24328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password spray, MFA fatigue, token theft, PAM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47288"/>
            <a:ext cx="3538728" cy="1280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30168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Cloud &amp; 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05656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AWS/Azure/GCP, IAM escalation, S3 exfil, K8s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447288"/>
            <a:ext cx="3538728" cy="1280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630168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Network &amp; Perimeter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105656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firewall, DNS, tunnelling, ערוצי C2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47288"/>
            <a:ext cx="3538728" cy="12801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630168"/>
            <a:ext cx="3035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Response &amp;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05656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18000"/>
              </a:lnSpc>
              <a:spcAft>
                <a:spcPts val="60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playbooks, שיקול הסלמה, כתיבת דוח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300" b="1">
                <a:solidFill>
                  <a:srgbClr val="CBD5E1"/>
                </a:solidFill>
                <a:latin typeface="Segoe UI"/>
              </a:rPr>
              <a:t>טלמטריה משדרת שמות-שדות אמיתיים של: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15000"/>
            <a:ext cx="1056132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CrowdStrike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05940" y="5715000"/>
            <a:ext cx="1133856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Defender XDR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9524" y="5715000"/>
            <a:ext cx="822960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Sentinel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82212" y="5715000"/>
            <a:ext cx="667512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Splunk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9452" y="5715000"/>
            <a:ext cx="745236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Elastic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14416" y="5715000"/>
            <a:ext cx="1056132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Check Point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80276" y="5715000"/>
            <a:ext cx="900684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Palo Alto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0688" y="5715000"/>
            <a:ext cx="900684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FortiGate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01100" y="5715000"/>
            <a:ext cx="512064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Okta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22892" y="5715000"/>
            <a:ext cx="822960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Entra 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55580" y="5715000"/>
            <a:ext cx="1289304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AWS CloudTrail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6172200"/>
            <a:ext cx="1289304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AWS CloudTrail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39112" y="6172200"/>
            <a:ext cx="745236" cy="310896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18288" bIns="18288"/>
          <a:lstStyle/>
          <a:p>
            <a:pPr algn="ctr"/>
            <a:r>
              <a:rPr sz="1050">
                <a:solidFill>
                  <a:srgbClr val="22D3EE"/>
                </a:solidFill>
                <a:latin typeface="Consolas"/>
              </a:rPr>
              <a:t>Purview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HACK THE SOC</a:t>
            </a:r>
            <a:r>
              <a:rPr sz="900" b="0">
                <a:solidFill>
                  <a:srgbClr val="64748B"/>
                </a:solidFill>
                <a:latin typeface="Segoe UI"/>
              </a:rPr>
              <a:t>  ·  פלטפורמת אימון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19088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onsola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6400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// למה אנחנו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ההבדל מהכשרה רגילה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8813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30552"/>
            <a:ext cx="347471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94A3B8"/>
                </a:solidFill>
                <a:latin typeface="Segoe UI"/>
              </a:rPr>
              <a:t>הכשרה טיפוסית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30552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HACK THE SOC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881360" cy="74980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15184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הצגת האירוע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15184"/>
            <a:ext cx="3474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2D55"/>
                </a:solidFill>
                <a:latin typeface="Segoe UI"/>
              </a:rPr>
              <a:t>✕  </a:t>
            </a:r>
            <a:r>
              <a:rPr sz="1300" b="0">
                <a:solidFill>
                  <a:srgbClr val="94A3B8"/>
                </a:solidFill>
                <a:latin typeface="Segoe UI"/>
              </a:rPr>
              <a:t>התראה מתויגת מראש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15184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0FF9D"/>
                </a:solidFill>
                <a:latin typeface="Segoe UI"/>
              </a:rPr>
              <a:t>✓  </a:t>
            </a:r>
            <a:r>
              <a:rPr sz="1300" b="0">
                <a:solidFill>
                  <a:srgbClr val="CBD5E1"/>
                </a:solidFill>
                <a:latin typeface="Segoe UI"/>
              </a:rPr>
              <a:t>פיד שלם, ללא הדגשה — אתה מוצא את החדירה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64992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הלוגים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64992"/>
            <a:ext cx="3474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2D55"/>
                </a:solidFill>
                <a:latin typeface="Segoe UI"/>
              </a:rPr>
              <a:t>✕  </a:t>
            </a:r>
            <a:r>
              <a:rPr sz="1300" b="0">
                <a:solidFill>
                  <a:srgbClr val="94A3B8"/>
                </a:solidFill>
                <a:latin typeface="Segoe UI"/>
              </a:rPr>
              <a:t>סיכום/צילום מסך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364992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0FF9D"/>
                </a:solidFill>
                <a:latin typeface="Segoe UI"/>
              </a:rPr>
              <a:t>✓  </a:t>
            </a:r>
            <a:r>
              <a:rPr sz="1300" b="0">
                <a:solidFill>
                  <a:srgbClr val="CBD5E1"/>
                </a:solidFill>
                <a:latin typeface="Segoe UI"/>
              </a:rPr>
              <a:t>שדות גולמיים אמיתיים מ-14+ ספקים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59936"/>
            <a:ext cx="10881360" cy="74980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הערכה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114800"/>
            <a:ext cx="3474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2D55"/>
                </a:solidFill>
                <a:latin typeface="Segoe UI"/>
              </a:rPr>
              <a:t>✕  </a:t>
            </a:r>
            <a:r>
              <a:rPr sz="1300" b="0">
                <a:solidFill>
                  <a:srgbClr val="94A3B8"/>
                </a:solidFill>
                <a:latin typeface="Segoe UI"/>
              </a:rPr>
              <a:t>שאלה אמריקאית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114800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0FF9D"/>
                </a:solidFill>
                <a:latin typeface="Segoe UI"/>
              </a:rPr>
              <a:t>✓  </a:t>
            </a:r>
            <a:r>
              <a:rPr sz="1300" b="0">
                <a:solidFill>
                  <a:srgbClr val="CBD5E1"/>
                </a:solidFill>
                <a:latin typeface="Segoe UI"/>
              </a:rPr>
              <a:t>דוח אירוע חופשי, נבדק מול האמת + זיהוי המצאות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64608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מבנה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864608"/>
            <a:ext cx="3474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2D55"/>
                </a:solidFill>
                <a:latin typeface="Segoe UI"/>
              </a:rPr>
              <a:t>✕  </a:t>
            </a:r>
            <a:r>
              <a:rPr sz="1300" b="0">
                <a:solidFill>
                  <a:srgbClr val="94A3B8"/>
                </a:solidFill>
                <a:latin typeface="Segoe UI"/>
              </a:rPr>
              <a:t>ספריית נושאים לגלישה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864608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0FF9D"/>
                </a:solidFill>
                <a:latin typeface="Segoe UI"/>
              </a:rPr>
              <a:t>✓  </a:t>
            </a:r>
            <a:r>
              <a:rPr sz="1300" b="0">
                <a:solidFill>
                  <a:srgbClr val="CBD5E1"/>
                </a:solidFill>
                <a:latin typeface="Segoe UI"/>
              </a:rPr>
              <a:t>מסלול מדורג אחד: 0 → מומחה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59552"/>
            <a:ext cx="10881360" cy="74980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14416"/>
            <a:ext cx="2011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למכללה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614416"/>
            <a:ext cx="34747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2D55"/>
                </a:solidFill>
                <a:latin typeface="Segoe UI"/>
              </a:rPr>
              <a:t>✕  </a:t>
            </a:r>
            <a:r>
              <a:rPr sz="1300" b="0">
                <a:solidFill>
                  <a:srgbClr val="94A3B8"/>
                </a:solidFill>
                <a:latin typeface="Segoe UI"/>
              </a:rPr>
              <a:t>חשבונות בודדים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614416"/>
            <a:ext cx="4206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r" rtl="1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0FF9D"/>
                </a:solidFill>
                <a:latin typeface="Segoe UI"/>
              </a:rPr>
              <a:t>✓  </a:t>
            </a:r>
            <a:r>
              <a:rPr sz="1300" b="0">
                <a:solidFill>
                  <a:srgbClr val="CBD5E1"/>
                </a:solidFill>
                <a:latin typeface="Segoe UI"/>
              </a:rPr>
              <a:t>Multi-tenant, קונסולת מרצה, ציונים וייצוא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057400"/>
            <a:ext cx="10881360" cy="4251960"/>
          </a:xfrm>
          <a:prstGeom prst="rect">
            <a:avLst/>
          </a:prstGeom>
          <a:noFill/>
          <a:ln w="1524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2057400"/>
            <a:ext cx="4480560" cy="4251960"/>
          </a:xfrm>
          <a:prstGeom prst="rect">
            <a:avLst/>
          </a:prstGeom>
          <a:noFill/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מוכנים להעמיד אנליסטים אמיתיים?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1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Segoe UI"/>
              </a:rPr>
              <a:t>גישה ברישיון — מושב פר-תלמיד, או רישיון-מחזור (cohort) למכללה. כל סביבה מבודדת, עם קונסולת מרצה, ציונים וייצוא. הרישוי מסודר ישירות מולנו.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4206240"/>
            <a:ext cx="3749039" cy="86868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4315968"/>
            <a:ext cx="374903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/>
          <a:p>
            <a:pPr algn="ctr" rtl="1">
              <a:spcAft>
                <a:spcPts val="600"/>
              </a:spcAft>
            </a:pPr>
            <a:r>
              <a:rPr sz="1800" b="1">
                <a:solidFill>
                  <a:srgbClr val="070B14"/>
                </a:solidFill>
                <a:latin typeface="Segoe UI"/>
              </a:rPr>
              <a:t>לתיאום הדגמה / רישוי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 rtl="0"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Consolas"/>
              </a:rPr>
              <a:t>HACK THE SOC</a:t>
            </a:r>
            <a:r>
              <a:rPr sz="1300" b="0">
                <a:solidFill>
                  <a:srgbClr val="64748B"/>
                </a:solidFill>
                <a:latin typeface="Segoe UI"/>
              </a:rPr>
              <a:t>   ·   hackthesoc.app   ·   נתונים סינתטיים בלבד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